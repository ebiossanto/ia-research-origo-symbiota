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030861" y="1700213"/>
            <a:ext cx="1082278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Origo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1357313" y="2300288"/>
            <a:ext cx="6429375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técnica, segurança declarativa e resultados de validação do produto consolidado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300413" y="3193256"/>
            <a:ext cx="254317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B2FF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1.0.0 (BETA) — VALIDAÇÃO APROVADA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676084" y="4679156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56078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o produto resolve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2900" y="1189434"/>
            <a:ext cx="400050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Metadados Portáveis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2900" y="1457325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Transporta anotações semânticas em comentários ou sidecars sem alterar a execução normal.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2114550"/>
            <a:ext cx="400050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Ativação por Consentimento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2900" y="2382441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 riscos de "Trojan Source": nada executa sem comando explícito e validação de integridade.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2900" y="3039666"/>
            <a:ext cx="400050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Proveniência Transversal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2900" y="3307556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políticas de auditoria e observação a código legado sem necessidade de reescrita.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0600" y="1189434"/>
            <a:ext cx="4000500" cy="2607469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418034"/>
            <a:ext cx="35433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635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5029200" y="1860947"/>
            <a:ext cx="35433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VETORES DE CONFORMIDADE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29200" y="2210991"/>
            <a:ext cx="35433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5029200" y="2653903"/>
            <a:ext cx="35433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GARANTIA DE NÃO-EXECUÇÃO INVISÍVEL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0" y="3003947"/>
            <a:ext cx="354330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5029200" y="3446859"/>
            <a:ext cx="35433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CAMADAS DE SEGURANÇA ESTÁTICA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676084" y="4679156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56078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Arquitetura em camadas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428875" y="1203722"/>
            <a:ext cx="4286250" cy="403622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7" name="Shape 4"/>
          <p:cNvSpPr/>
          <p:nvPr/>
        </p:nvSpPr>
        <p:spPr>
          <a:xfrm>
            <a:off x="2428875" y="1203722"/>
            <a:ext cx="28575" cy="40362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8" name="Text 5"/>
          <p:cNvSpPr/>
          <p:nvPr/>
        </p:nvSpPr>
        <p:spPr>
          <a:xfrm>
            <a:off x="2543175" y="1318022"/>
            <a:ext cx="4857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Carrier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00663" y="1344811"/>
            <a:ext cx="13001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Extração de blocos do host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500563" y="1721644"/>
            <a:ext cx="14287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28875" y="2046684"/>
            <a:ext cx="4286250" cy="403622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2" name="Shape 9"/>
          <p:cNvSpPr/>
          <p:nvPr/>
        </p:nvSpPr>
        <p:spPr>
          <a:xfrm>
            <a:off x="2428875" y="2046684"/>
            <a:ext cx="28575" cy="403622"/>
          </a:xfrm>
          <a:prstGeom prst="rect">
            <a:avLst/>
          </a:prstGeom>
          <a:solidFill>
            <a:srgbClr val="B2FF59"/>
          </a:solidFill>
          <a:ln/>
        </p:spPr>
      </p:sp>
      <p:sp>
        <p:nvSpPr>
          <p:cNvPr id="13" name="Text 10"/>
          <p:cNvSpPr/>
          <p:nvPr/>
        </p:nvSpPr>
        <p:spPr>
          <a:xfrm>
            <a:off x="2543175" y="2160984"/>
            <a:ext cx="137517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Scanner &amp; Validator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47072" y="2187773"/>
            <a:ext cx="145375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Unicode, Integridade e Política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00563" y="2564606"/>
            <a:ext cx="14287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428875" y="2889647"/>
            <a:ext cx="4286250" cy="403622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7" name="Shape 14"/>
          <p:cNvSpPr/>
          <p:nvPr/>
        </p:nvSpPr>
        <p:spPr>
          <a:xfrm>
            <a:off x="2428875" y="2889647"/>
            <a:ext cx="28575" cy="40362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8" name="Text 15"/>
          <p:cNvSpPr/>
          <p:nvPr/>
        </p:nvSpPr>
        <p:spPr>
          <a:xfrm>
            <a:off x="2543175" y="3003947"/>
            <a:ext cx="6107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Resolver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47059" y="3030736"/>
            <a:ext cx="155376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Binding de seletores léxicos/AST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500563" y="3407569"/>
            <a:ext cx="142875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428875" y="3732609"/>
            <a:ext cx="4286250" cy="403622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22" name="Shape 19"/>
          <p:cNvSpPr/>
          <p:nvPr/>
        </p:nvSpPr>
        <p:spPr>
          <a:xfrm>
            <a:off x="2428875" y="3732609"/>
            <a:ext cx="28575" cy="403622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3" name="Text 20"/>
          <p:cNvSpPr/>
          <p:nvPr/>
        </p:nvSpPr>
        <p:spPr>
          <a:xfrm>
            <a:off x="2543175" y="3846909"/>
            <a:ext cx="5357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57800" y="3873698"/>
            <a:ext cx="13430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eventos neutros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714500" y="4479131"/>
            <a:ext cx="1790681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 / Relatórios CI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676631" y="4479131"/>
            <a:ext cx="1790681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de Proveniência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638763" y="4479131"/>
            <a:ext cx="1790737" cy="30718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Instrumentação Declarativa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672513" y="4679156"/>
            <a:ext cx="1285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56078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Perfil alpha_ast_hash v1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900" y="1189434"/>
            <a:ext cx="4869135" cy="3611166"/>
          </a:xfrm>
          <a:prstGeom prst="rect">
            <a:avLst/>
          </a:prstGeom>
          <a:solidFill>
            <a:srgbClr val="242424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1189434"/>
            <a:ext cx="4869135" cy="3611166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Identificador Estruturado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origo-alpha-ast-v1: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python: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cpython-ast-3.12: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sha256:e3b0c442...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// Normalização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args &amp; locals -&gt; lexical slots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attrs &amp; literals -&gt; preserved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50" dirty="0">
                <a:solidFill>
                  <a:srgbClr val="B2FF5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captures -&gt; preserved by name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740673" y="1189434"/>
            <a:ext cx="464344" cy="160734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9" name="Text 6"/>
          <p:cNvSpPr/>
          <p:nvPr/>
        </p:nvSpPr>
        <p:spPr>
          <a:xfrm>
            <a:off x="5740673" y="1189434"/>
            <a:ext cx="464344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740673" y="1407319"/>
            <a:ext cx="30603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Equivalência Estrutural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40673" y="1639491"/>
            <a:ext cx="306037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mudanças em algoritmos ignorando formatação e nomes locais.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40673" y="2089547"/>
            <a:ext cx="650081" cy="160734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3" name="Text 10"/>
          <p:cNvSpPr/>
          <p:nvPr/>
        </p:nvSpPr>
        <p:spPr>
          <a:xfrm>
            <a:off x="5740673" y="2089547"/>
            <a:ext cx="650081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740673" y="2307431"/>
            <a:ext cx="30603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Domínio Isolado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40673" y="2539603"/>
            <a:ext cx="306037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SHA-256 inclui separação de domínio e metadados do schema AST.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740673" y="2989659"/>
            <a:ext cx="639366" cy="160734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7" name="Text 14"/>
          <p:cNvSpPr/>
          <p:nvPr/>
        </p:nvSpPr>
        <p:spPr>
          <a:xfrm>
            <a:off x="5740673" y="2989659"/>
            <a:ext cx="639366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740673" y="3207544"/>
            <a:ext cx="306037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Complexidade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40673" y="3439716"/>
            <a:ext cx="306037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total a Async, Yield, Decorators e Closures aninhadas.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676084" y="4679156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56078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Overlay Rust: operação explícita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900" y="1189434"/>
            <a:ext cx="8458200" cy="478631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50169"/>
            <a:ext cx="1428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57400" y="1303734"/>
            <a:ext cx="2143125" cy="25003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6"/>
          <p:cNvSpPr/>
          <p:nvPr/>
        </p:nvSpPr>
        <p:spPr>
          <a:xfrm>
            <a:off x="2057400" y="1303734"/>
            <a:ext cx="214312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origo-overlay scan src/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371975" y="1359098"/>
            <a:ext cx="43148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Unicode perigoso e ataques Trojan Source.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2900" y="1782366"/>
            <a:ext cx="8458200" cy="478631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943100"/>
            <a:ext cx="1428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integrity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57400" y="1896666"/>
            <a:ext cx="2143125" cy="25003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1"/>
          <p:cNvSpPr/>
          <p:nvPr/>
        </p:nvSpPr>
        <p:spPr>
          <a:xfrm>
            <a:off x="2057400" y="1896666"/>
            <a:ext cx="214312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origo-overlay integrity-check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371975" y="1952030"/>
            <a:ext cx="43148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 hash SHA-256 do hospedeiro canônico.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42900" y="2375297"/>
            <a:ext cx="8458200" cy="478631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536031"/>
            <a:ext cx="1428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057400" y="2489597"/>
            <a:ext cx="2143125" cy="25003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Text 16"/>
          <p:cNvSpPr/>
          <p:nvPr/>
        </p:nvSpPr>
        <p:spPr>
          <a:xfrm>
            <a:off x="2057400" y="2489597"/>
            <a:ext cx="214312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origo-overlay plan app.rs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371975" y="2544961"/>
            <a:ext cx="43148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 matriz de eventos para consumo por CI/CD.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42900" y="2968228"/>
            <a:ext cx="8458200" cy="478631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3128963"/>
            <a:ext cx="1428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rust-check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057400" y="3082528"/>
            <a:ext cx="2143125" cy="250031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4" name="Text 21"/>
          <p:cNvSpPr/>
          <p:nvPr/>
        </p:nvSpPr>
        <p:spPr>
          <a:xfrm>
            <a:off x="2057400" y="3082528"/>
            <a:ext cx="2143125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origo-overlay rust-check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371975" y="3137892"/>
            <a:ext cx="43148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seletores contra símbolos indexados do código.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42900" y="3789759"/>
            <a:ext cx="8458200" cy="4000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instrumentação é declarativa: gera marcadores de auditoria sem alterar semântica ou execução.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676084" y="4679156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56078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Resultados dos testes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900" y="1189434"/>
            <a:ext cx="2705081" cy="171985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7" name="Text 4"/>
          <p:cNvSpPr/>
          <p:nvPr/>
        </p:nvSpPr>
        <p:spPr>
          <a:xfrm>
            <a:off x="1256072" y="1618952"/>
            <a:ext cx="87868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635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55297" y="2161877"/>
            <a:ext cx="168023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VETORES DE CONFORMIDADE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54274" y="2340471"/>
            <a:ext cx="108227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de Aprovação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19431" y="1189434"/>
            <a:ext cx="2705081" cy="171985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1" name="Text 8"/>
          <p:cNvSpPr/>
          <p:nvPr/>
        </p:nvSpPr>
        <p:spPr>
          <a:xfrm>
            <a:off x="4273693" y="1618952"/>
            <a:ext cx="59650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3758617" y="2161877"/>
            <a:ext cx="162665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UNITÁRIOS PYTHON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37924" y="2340471"/>
            <a:ext cx="146804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Garante Normalização AST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95963" y="1189434"/>
            <a:ext cx="2705081" cy="171985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5" name="Text 12"/>
          <p:cNvSpPr/>
          <p:nvPr/>
        </p:nvSpPr>
        <p:spPr>
          <a:xfrm>
            <a:off x="7252022" y="1618952"/>
            <a:ext cx="3929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7055904" y="2161877"/>
            <a:ext cx="78514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RUST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851972" y="2340471"/>
            <a:ext cx="11930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Unitários e Integração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2900" y="3080742"/>
            <a:ext cx="2705081" cy="171985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9" name="Text 16"/>
          <p:cNvSpPr/>
          <p:nvPr/>
        </p:nvSpPr>
        <p:spPr>
          <a:xfrm>
            <a:off x="1413235" y="3510260"/>
            <a:ext cx="5643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07</a:t>
            </a:r>
            <a:endParaRPr lang="en-US" sz="3300" dirty="0"/>
          </a:p>
        </p:txBody>
      </p:sp>
      <p:sp>
        <p:nvSpPr>
          <p:cNvPr id="20" name="Text 17"/>
          <p:cNvSpPr/>
          <p:nvPr/>
        </p:nvSpPr>
        <p:spPr>
          <a:xfrm>
            <a:off x="1247868" y="4053185"/>
            <a:ext cx="89514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COMANDOS CLI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039974" y="4231779"/>
            <a:ext cx="131087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Smoke Tests Aprovados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19431" y="3080742"/>
            <a:ext cx="2705081" cy="171985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23" name="Text 20"/>
          <p:cNvSpPr/>
          <p:nvPr/>
        </p:nvSpPr>
        <p:spPr>
          <a:xfrm>
            <a:off x="3975441" y="3510260"/>
            <a:ext cx="11930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</a:t>
            </a:r>
            <a:endParaRPr lang="en-US" sz="3300" dirty="0"/>
          </a:p>
        </p:txBody>
      </p:sp>
      <p:sp>
        <p:nvSpPr>
          <p:cNvPr id="24" name="Text 21"/>
          <p:cNvSpPr/>
          <p:nvPr/>
        </p:nvSpPr>
        <p:spPr>
          <a:xfrm>
            <a:off x="4213306" y="4053185"/>
            <a:ext cx="71727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CLIPPY LINT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946866" y="4231779"/>
            <a:ext cx="1250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Warnings (Estrito)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095963" y="3080742"/>
            <a:ext cx="2705081" cy="171985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27" name="Text 24"/>
          <p:cNvSpPr/>
          <p:nvPr/>
        </p:nvSpPr>
        <p:spPr>
          <a:xfrm>
            <a:off x="6851972" y="3510260"/>
            <a:ext cx="119300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</a:t>
            </a:r>
            <a:endParaRPr lang="en-US" sz="3300" dirty="0"/>
          </a:p>
        </p:txBody>
      </p:sp>
      <p:sp>
        <p:nvSpPr>
          <p:cNvPr id="28" name="Text 25"/>
          <p:cNvSpPr/>
          <p:nvPr/>
        </p:nvSpPr>
        <p:spPr>
          <a:xfrm>
            <a:off x="6773391" y="4053185"/>
            <a:ext cx="13501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spc="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INTEGRIDADE DE BUILD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809110" y="4231779"/>
            <a:ext cx="12787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Checksums Verificados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683228" y="4679156"/>
            <a:ext cx="1178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56078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CI, artefatos e reprodução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900" y="1593056"/>
            <a:ext cx="8458200" cy="700088"/>
          </a:xfrm>
          <a:prstGeom prst="rect">
            <a:avLst/>
          </a:prstGeom>
          <a:solidFill>
            <a:srgbClr val="242424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4350" y="1771650"/>
            <a:ext cx="342900" cy="342900"/>
          </a:xfrm>
          <a:prstGeom prst="ellipse">
            <a:avLst/>
          </a:prstGeom>
          <a:solidFill>
            <a:srgbClr val="3D3D3D"/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1771650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28700" y="1771650"/>
            <a:ext cx="76009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Workspace Git Unificado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8700" y="1975247"/>
            <a:ext cx="76009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versão consolidado com workflows GitHub Actions para Python e Rust.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2900" y="2514600"/>
            <a:ext cx="8458200" cy="714375"/>
          </a:xfrm>
          <a:prstGeom prst="rect">
            <a:avLst/>
          </a:prstGeom>
          <a:solidFill>
            <a:srgbClr val="242424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4350" y="2700338"/>
            <a:ext cx="342900" cy="342900"/>
          </a:xfrm>
          <a:prstGeom prst="ellipse">
            <a:avLst/>
          </a:prstGeom>
          <a:solidFill>
            <a:srgbClr val="3D3D3D"/>
          </a:solidFill>
          <a:ln/>
        </p:spPr>
      </p:sp>
      <p:sp>
        <p:nvSpPr>
          <p:cNvPr id="13" name="Text 10"/>
          <p:cNvSpPr/>
          <p:nvPr/>
        </p:nvSpPr>
        <p:spPr>
          <a:xfrm>
            <a:off x="514350" y="270033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28700" y="2693194"/>
            <a:ext cx="76009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Suíte de Validação Integrada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28700" y="2903934"/>
            <a:ext cx="3500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378744" y="2896791"/>
            <a:ext cx="75439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validate.sh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133135" y="2903934"/>
            <a:ext cx="322183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 gates de qualidade e conformidade de vetores.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2900" y="3450431"/>
            <a:ext cx="8458200" cy="932259"/>
          </a:xfrm>
          <a:prstGeom prst="rect">
            <a:avLst/>
          </a:prstGeom>
          <a:solidFill>
            <a:srgbClr val="242424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4350" y="3745111"/>
            <a:ext cx="342900" cy="342900"/>
          </a:xfrm>
          <a:prstGeom prst="ellipse">
            <a:avLst/>
          </a:prstGeom>
          <a:solidFill>
            <a:srgbClr val="3D3D3D"/>
          </a:solidFill>
          <a:ln/>
        </p:spPr>
      </p:sp>
      <p:sp>
        <p:nvSpPr>
          <p:cNvPr id="20" name="Text 17"/>
          <p:cNvSpPr/>
          <p:nvPr/>
        </p:nvSpPr>
        <p:spPr>
          <a:xfrm>
            <a:off x="514350" y="374511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2FF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28700" y="3629025"/>
            <a:ext cx="76009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Artefatos de Release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28700" y="3832622"/>
            <a:ext cx="76009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determinística de binários e wheels com verificação de integridade via SHA256SUMS.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028700" y="4029075"/>
            <a:ext cx="664369" cy="175022"/>
          </a:xfrm>
          <a:prstGeom prst="rect">
            <a:avLst/>
          </a:prstGeom>
          <a:solidFill>
            <a:srgbClr val="141414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28700" y="4029075"/>
            <a:ext cx="664369" cy="1750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.whl (Python)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1793081" y="4029075"/>
            <a:ext cx="742950" cy="175022"/>
          </a:xfrm>
          <a:prstGeom prst="rect">
            <a:avLst/>
          </a:prstGeom>
          <a:solidFill>
            <a:srgbClr val="141414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793081" y="4029075"/>
            <a:ext cx="742950" cy="1750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 (Linux x64)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2636044" y="4029075"/>
            <a:ext cx="714375" cy="175022"/>
          </a:xfrm>
          <a:prstGeom prst="rect">
            <a:avLst/>
          </a:prstGeom>
          <a:solidFill>
            <a:srgbClr val="141414"/>
          </a:solidFill>
          <a:ln w="9144">
            <a:solidFill>
              <a:srgbClr val="3D3D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36044" y="4029075"/>
            <a:ext cx="714375" cy="1750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SHA256SUMS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4179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ORIGO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8676084" y="4679156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560784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 final e próximos passos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2900" y="1189434"/>
            <a:ext cx="4057650" cy="18573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LIMITES IDENTIFICADOS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85775" y="1546622"/>
            <a:ext cx="2596753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Adaptador Rust 0.3.0 lexical ( AST parcial).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5775" y="1869486"/>
            <a:ext cx="36576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Integridade SHA-256 não garante autoria (falta assinaturas).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5775" y="2192350"/>
            <a:ext cx="2386013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Instrumentação puramente declarativa.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43450" y="1189434"/>
            <a:ext cx="4057650" cy="18573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 PRIORIZADO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886325" y="1546622"/>
            <a:ext cx="2468166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Migração para Tree-sitter (Rust/Python).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86325" y="1869486"/>
            <a:ext cx="2468166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Assinaturas Ed25519 para autenticidade.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86325" y="2192350"/>
            <a:ext cx="2611041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W3C PROV e integração SLSA.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886325" y="2515214"/>
            <a:ext cx="2486025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de telemetria isolado e fail-safe.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2026-10-11T23:06:05Z</dcterms:created>
  <dcterms:modified xsi:type="dcterms:W3CDTF">2026-10-11T23:06:05Z</dcterms:modified>
</cp:coreProperties>
</file>